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Financial Intelligence. Private by Design.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8288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200400"/>
            <a:ext cx="1737360" cy="347472"/>
          </a:xfrm>
          <a:prstGeom prst="rect">
            <a:avLst>
              <a:gd name="adj" fmla="val 13158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3200400"/>
            <a:ext cx="1737360" cy="347472"/>
          </a:xfrm>
          <a:prstGeom prst="rect">
            <a:avLst>
              <a:gd name="adj" fmla="val 13158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Powered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200400"/>
            <a:ext cx="1737360" cy="347472"/>
          </a:xfrm>
          <a:prstGeom prst="rect">
            <a:avLst>
              <a:gd name="adj" fmla="val 13158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Cloud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Confidential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"/>
            <a:ext cx="10972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Financial Data at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of financial firms cite data privacy as their #1 concern with AI adoption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AI tools require sending sensitive accounting data to third-party servers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(SOX, GDPR, CCPA) restricts data transfer to external APIs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report generation takes 4–8 hours per analyst per week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processing backlogs average 12 days in mid-market firms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solution combines AI intelligence WITH complete data isolation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solidFill>
            <a:srgbClr val="6366F1">
              <a:alpha val="12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No AI tool delivers intelligence + total data isolation for finance teams.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"/>
            <a:ext cx="10972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AI: Intelligence Without Compromise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108960"/>
          </a:xfrm>
          <a:prstGeom prst="rect">
            <a:avLst/>
          </a:prstGeom>
          <a:solidFill>
            <a:srgbClr val="1A1C2E"/>
          </a:solidFill>
          <a:ln w="635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financial reports from your data. Executive summaries, expense breakdowns, trend analysis — generated in seconds, not hours.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3108960"/>
          </a:xfrm>
          <a:prstGeom prst="rect">
            <a:avLst/>
          </a:prstGeom>
          <a:solidFill>
            <a:srgbClr val="1A1C2E"/>
          </a:solidFill>
          <a:ln w="635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Query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in plain English. Get precise answers with calculations. No SQL required. Your AI financial analyst, always available.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3108960"/>
          </a:xfrm>
          <a:prstGeom prst="rect">
            <a:avLst/>
          </a:prstGeom>
          <a:solidFill>
            <a:srgbClr val="1A1C2E"/>
          </a:solidFill>
          <a:ln w="635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OCR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invoices, work-orders, receipts. Tesseract extracts text, AI parses structured fields. Digitize your paper trail instantly.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6366F1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Local   |   Zero Cloud   |   Air-Gapped Compatible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"/>
            <a:ext cx="10972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Report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pic>
        <p:nvPicPr>
          <p:cNvPr id="5" name="Image 0" descr="/Users/srijonm/Documents/LocalGemmaApp/docs/screenshots/01_dashboard_re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05840"/>
            <a:ext cx="786384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CSV/Excel accounting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report types including Executive Summary, Expense Breakdown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charts and real-time metrics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reports for internal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"/>
            <a:ext cx="10972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Financial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pic>
        <p:nvPicPr>
          <p:cNvPr id="5" name="Image 0" descr="/Users/srijonm/Documents/LocalGemmaApp/docs/screenshots/02_data_que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05840"/>
            <a:ext cx="786384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Chat-style interface for intuitive interaction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calculations with source data references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conversation context for follow-up questions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"What is Q1 revenue?" yields $401,200 with full breakdown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"/>
            <a:ext cx="10972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Document 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pic>
        <p:nvPicPr>
          <p:cNvPr id="5" name="Image 0" descr="/Users/srijonm/Documents/LocalGemmaApp/docs/screenshots/03_ocr_process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05840"/>
            <a:ext cx="786384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OCR extracts text at 87%+ confidence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parses structured fields: invoice number, amounts, line items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invoices, work orders, receipts, purchase orders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raw text or parsed 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"/>
            <a:ext cx="10972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Architecture: Nothing Leaves Your Machine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  <p:pic>
        <p:nvPicPr>
          <p:cNvPr id="5" name="Image 0" descr="/Users/srijonm/Documents/LocalGemmaApp/docs/screenshots/05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05840"/>
            <a:ext cx="786384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3749040"/>
            <a:ext cx="109728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Gemma 4 runs locally via LM Studio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3749040"/>
            <a:ext cx="109728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4864608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API calls to localhost only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4251960"/>
            <a:ext cx="109728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connection required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4251960"/>
            <a:ext cx="109728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4864608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exists only in browser session memory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"/>
            <a:ext cx="10972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1A1C2E"/>
          </a:solidFill>
          <a:ln w="635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 time vs. manual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645920"/>
          </a:xfrm>
          <a:prstGeom prst="rect">
            <a:avLst/>
          </a:prstGeom>
          <a:solidFill>
            <a:srgbClr val="1A1C2E"/>
          </a:solidFill>
          <a:ln w="635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leaves your network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rgbClr val="1A1C2E"/>
          </a:solidFill>
          <a:ln w="635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12d → 2h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processing turnaround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651760" cy="1645920"/>
          </a:xfrm>
          <a:prstGeom prst="rect">
            <a:avLst/>
          </a:prstGeom>
          <a:solidFill>
            <a:srgbClr val="1A1C2E"/>
          </a:solidFill>
          <a:ln w="635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154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fees, no subscriptions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971800"/>
            <a:ext cx="2651760" cy="1645920"/>
          </a:xfrm>
          <a:prstGeom prst="rect">
            <a:avLst/>
          </a:prstGeom>
          <a:solidFill>
            <a:srgbClr val="1A1C2E"/>
          </a:solidFill>
          <a:ln w="635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154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SOX/GDPR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29184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regulatory compliance by design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651760" cy="1645920"/>
          </a:xfrm>
          <a:prstGeom prst="rect">
            <a:avLst/>
          </a:prstGeom>
          <a:solidFill>
            <a:srgbClr val="1A1C2E"/>
          </a:solidFill>
          <a:ln w="635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3154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12648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secure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"/>
            <a:ext cx="10972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  <p:pic>
        <p:nvPicPr>
          <p:cNvPr id="5" name="Image 0" descr="/Users/srijonm/Documents/LocalGemmaApp/docs/screenshots/06_road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05840"/>
            <a:ext cx="786384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97280" y="3886200"/>
            <a:ext cx="6949440" cy="0"/>
          </a:xfrm>
          <a:prstGeom prst="line">
            <a:avLst/>
          </a:prstGeom>
          <a:noFill/>
          <a:ln w="254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3040" y="3730752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— Reports, Query, OCR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74720" y="373075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283464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83464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pipeline, anomaly detection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3730752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features, multi-user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98080" y="3730752"/>
            <a:ext cx="274320" cy="274320"/>
          </a:xfrm>
          <a:prstGeom prst="ellipse">
            <a:avLst/>
          </a:prstGeom>
          <a:solidFill>
            <a:srgbClr val="A5B4FC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Observability, advanced agents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AI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data. Your AI. Your machine.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financial intelligence. Private by 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3566160"/>
            <a:ext cx="4572000" cy="914400"/>
          </a:xfrm>
          <a:prstGeom prst="rect">
            <a:avLst/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566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B4FC"/>
                </a:solidFill>
              </a:rPr>
              <a:t>Next Steps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Schedule a live demo  |  hello@finvault.ai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FinVault AI — Marketing Deck</dc:title>
  <dc:subject>On-Device Financial Intelligence</dc:subject>
  <dc:creator>FinVault AI</dc:creator>
  <cp:lastModifiedBy>FinVault AI</cp:lastModifiedBy>
  <cp:revision>1</cp:revision>
  <dcterms:created xsi:type="dcterms:W3CDTF">2026-04-13T23:07:19Z</dcterms:created>
  <dcterms:modified xsi:type="dcterms:W3CDTF">2026-04-13T23:07:19Z</dcterms:modified>
</cp:coreProperties>
</file>